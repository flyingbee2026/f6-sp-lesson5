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4" r:id="rId25"/>
    <p:sldId id="275" r:id="rId2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2" autoAdjust="0"/>
    <p:restoredTop sz="94660"/>
  </p:normalViewPr>
  <p:slideViewPr>
    <p:cSldViewPr snapToGrid="0" snapToObjects="1">
      <p:cViewPr>
        <p:scale>
          <a:sx n="113" d="100"/>
          <a:sy n="113" d="100"/>
        </p:scale>
        <p:origin x="2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5" Type="http://schemas.openxmlformats.org/officeDocument/2006/relationships/slide" Target="slides/slide4.xml"/><Relationship Id="rId26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259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Lesson 5: DSE 2013 Paper 1 Part B1 open-ended questions. Warm-up vocabulary (10 difficult words), tips, 2 demo questions, then 11 open-ended questions (12 marks) in passage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Key: 1-G, 2-E, 3-I, 4-D, 5-B, 6-H, 7-F, 8-C, 9-J, 10-A. Click to reveal each answer letter one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Comparison questions only: “Why is X compared to Y?” The answer is the shared quality.</a:t>
            </a:r>
          </a:p>
          <a:p>
            <a:r>
              <a:t>Click 1 — SIMILE: the signal is written openly (like / as … as / compared to), so the quality sits next to it (busy).</a:t>
            </a:r>
          </a:p>
          <a:p>
            <a:r>
              <a:t>Click 2 — METAPHOR: X IS Y, no like/as; the quality is often explained after the colon (slot machine → unpredictable rewards → addictive).</a:t>
            </a:r>
          </a:p>
          <a:p>
            <a:r>
              <a:t>Click 3 — how to answer: ask what the two things share; write the QUALITY, not the object; never “because they are similar”.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to answer before clicking. Then click to reveal the answer and evidence.</a:t>
            </a:r>
          </a:p>
          <a:p>
            <a:r>
              <a:t>Expected: since ancient times // during the Qin Dynasty.</a:t>
            </a:r>
          </a:p>
          <a:p>
            <a:r>
              <a:t>Tip: the answer is the TIME phrase — either is accepted.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to answer before clicking. Then click to reveal the answer and evidence.</a:t>
            </a:r>
          </a:p>
          <a:p>
            <a:r>
              <a:t>Expected: turbulent.</a:t>
            </a:r>
          </a:p>
          <a:p>
            <a:r>
              <a:t>Tip: turbulent = unstable — check the spelling.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to answer before clicking. Then click to reveal the answer and evidence.</a:t>
            </a:r>
          </a:p>
          <a:p>
            <a:r>
              <a:t>Expected: they have been exposed to its sound since childhood.</a:t>
            </a:r>
          </a:p>
          <a:p>
            <a:r>
              <a:t>Tip: “because” = reason signal — copy the full clause.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to answer before clicking. Then click to reveal the answer and evidence.</a:t>
            </a:r>
          </a:p>
          <a:p>
            <a:r>
              <a:t>Expected: exotic / relaxing.</a:t>
            </a:r>
          </a:p>
          <a:p>
            <a:r>
              <a:t>Tip: two blanks, one mark — BOTH words must be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to answer before clicking. Then click to reveal the answer and evidence.</a:t>
            </a:r>
          </a:p>
          <a:p>
            <a:r>
              <a:t>Expected: (passing an) interview and (taking a music aptitude) test.</a:t>
            </a:r>
          </a:p>
          <a:p>
            <a:r>
              <a:t>Tip: TWO points — an interview AND a test — write both or lose the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to answer before clicking. Then click to reveal the answer and evidence.</a:t>
            </a:r>
          </a:p>
          <a:p>
            <a:r>
              <a:t>Expected: it questions whether social media is good // it isn’t always as good as we think.</a:t>
            </a:r>
          </a:p>
          <a:p>
            <a:r>
              <a:t>Tip: the rhetorical “Or is it?” flips the positive claim — the doubt IS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to answer before clicking. Then click to reveal the answer and evidence.</a:t>
            </a:r>
          </a:p>
          <a:p>
            <a:r>
              <a:t>Expected: revealing undesirable personal traits (to their peers).</a:t>
            </a:r>
          </a:p>
          <a:p>
            <a:r>
              <a:t>Tip: “by accident” = unwittingly — copy the phrase after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to answer before clicking. Then click to reveal the answer and evidence.</a:t>
            </a:r>
          </a:p>
          <a:p>
            <a:r>
              <a:t>Expected: (the idea) that Facebook could be a fantastic place for people to strengthen their relationships.</a:t>
            </a:r>
          </a:p>
          <a:p>
            <a:r>
              <a:t>Tip: reference words (this / it / that) point backwards — copy the earlier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to answer before clicking. Then click to reveal the answer and evidence.</a:t>
            </a:r>
          </a:p>
          <a:p>
            <a:r>
              <a:t>Expected: a negative reaction.</a:t>
            </a:r>
          </a:p>
          <a:p>
            <a:r>
              <a:t>Tip: “it” points back to the noun before it: a negative reaction.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to answer before clicking. Then click to reveal the answer and evidence.</a:t>
            </a:r>
          </a:p>
          <a:p>
            <a:r>
              <a:t>Expected: because it is (as) addictive as cigarettes and alcohol // it is an addiction.</a:t>
            </a:r>
          </a:p>
          <a:p>
            <a:r>
              <a:t>Tip: metaphor &amp; simile — the answer is the SHARED QUALITY (addictiveness), not the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to answer before clicking. Then click to reveal the answer and evidence.</a:t>
            </a:r>
          </a:p>
          <a:p>
            <a:r>
              <a:t>Expected: i) share things / strengthen friendships   ii) bombard friends with negative tidbits / become less likeable.</a:t>
            </a:r>
          </a:p>
          <a:p>
            <a:r>
              <a:t>Tip: two parts = two marks — give the “In theory” idea AND the “But in practice”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HANDOUT EXAMPLE 1 — simile (the signal is written openly; Helen’s revised handout, Part B).</a:t>
            </a:r>
          </a:p>
          <a:p>
            <a:r>
              <a:t>Ask the class to answer BEFORE clicking. Then click once to reveal the model answer.</a:t>
            </a:r>
          </a:p>
          <a:p>
            <a:r>
              <a:t>Expected: because the pressure felt very heavy / it weighed her down badly, like a mountain of lead.</a:t>
            </a:r>
          </a:p>
          <a:p>
            <a:r>
              <a:t>Teaching move: “like” marks the simile and the shared quality is HEAVY — students copy the quality (heavy), not the object (a mountain of lead).</a:t>
            </a:r>
          </a:p>
          <a:p>
            <a:r>
              <a:t>This question is NOT from the exam paper, so Q10 is still a genuine test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HANDOUT EXAMPLE 2 — metaphor (the signal is hidden; Helen’s revised handout, Part B).</a:t>
            </a:r>
          </a:p>
          <a:p>
            <a:r>
              <a:t>Ask the class to answer BEFORE clicking. Click 1 reveals the “How to find it” strip; click 2 the model answer.</a:t>
            </a:r>
          </a:p>
          <a:p>
            <a:r>
              <a:t>Expected: because both are dangerous — they will cause serious harm later / if nobody deals with them now.</a:t>
            </a:r>
          </a:p>
          <a:p>
            <a:r>
              <a:t>Teaching move: a metaphor says X IS Y. Copying “ticking bombs” alone earns no mark — write what the two things SHARE.</a:t>
            </a:r>
          </a:p>
          <a:p>
            <a:r>
              <a:t>This question is NOT from the exam paper — the exam’s own comparison (Q10) is kept for the 12-mark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angle BG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B7A5"/>
                </a:solidFill>
                <a:latin typeface="Aptos"/>
              </a:rPr>
              <a:t>F.6 SP ENGLISH  •  2013 DSE PART B1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365D"/>
                </a:solidFill>
                <a:latin typeface="Aptos"/>
              </a:rPr>
              <a:t>English 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69494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7365D"/>
                </a:solidFill>
                <a:latin typeface="Aptos"/>
              </a:rPr>
              <a:t>“Master teaches a much-loved instrument”</a:t>
            </a:r>
          </a:p>
          <a:p>
            <a:pPr algn="l"/>
            <a:r>
              <a:rPr sz="2700" b="1">
                <a:solidFill>
                  <a:srgbClr val="17365D"/>
                </a:solidFill>
                <a:latin typeface="Aptos"/>
              </a:rPr>
              <a:t>“What your updates say about you”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Open-ended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783080"/>
            <a:ext cx="3931920" cy="237744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2011680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75B5"/>
                </a:solidFill>
                <a:latin typeface="Aptos"/>
              </a:rPr>
              <a:t>TODAY'S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560320"/>
            <a:ext cx="3474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10 Vocabulary items</a:t>
            </a:r>
          </a:p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11 Open-ended questions</a:t>
            </a:r>
          </a:p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(12 marks)</a:t>
            </a:r>
          </a:p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Focus skill:  metaphor &amp; simile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0936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7083"/>
                </a:solidFill>
                <a:latin typeface="Aptos"/>
              </a:rPr>
              <a:t>DSE 2013 Part B1  •  Reading for 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angle BG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B7A5"/>
                </a:solidFill>
                <a:latin typeface="Aptos"/>
              </a:rPr>
              <a:t>WARM-UP  •  PAIR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Key vocabulary: match the meanings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4206240" cy="384048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9903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365D"/>
                </a:solidFill>
                <a:latin typeface="Aptos"/>
              </a:rPr>
              <a:t>1  comprise   Line 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399032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365D"/>
                </a:solidFill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1399032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5B7A5"/>
                </a:solidFill>
              </a:rPr>
              <a:t>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847088"/>
            <a:ext cx="4206240" cy="384048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874519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365D"/>
                </a:solidFill>
                <a:latin typeface="Aptos"/>
              </a:rPr>
              <a:t>2  intake   Line 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874519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365D"/>
                </a:solidFill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1874519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5B7A5"/>
                </a:solidFill>
              </a:rPr>
              <a:t>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322576"/>
            <a:ext cx="4206240" cy="384048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35000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365D"/>
                </a:solidFill>
                <a:latin typeface="Aptos"/>
              </a:rPr>
              <a:t>3  tuition   Line 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350008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365D"/>
                </a:solidFill>
              </a:rPr>
              <a:t>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2350008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5B7A5"/>
                </a:solidFill>
              </a:rPr>
              <a:t>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798064"/>
            <a:ext cx="4206240" cy="384048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2825496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365D"/>
                </a:solidFill>
                <a:latin typeface="Aptos"/>
              </a:rPr>
              <a:t>4  posture   Line 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825496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365D"/>
                </a:solidFill>
              </a:rPr>
              <a:t>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2825496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5B7A5"/>
                </a:solidFill>
              </a:rPr>
              <a:t>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273552"/>
            <a:ext cx="4206240" cy="384048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3300984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365D"/>
                </a:solidFill>
                <a:latin typeface="Aptos"/>
              </a:rPr>
              <a:t>5  unwittingly   Line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300984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365D"/>
                </a:solidFill>
              </a:rPr>
              <a:t>____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5072" y="3300984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5B7A5"/>
                </a:solidFill>
              </a:rPr>
              <a:t>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749039"/>
            <a:ext cx="4206240" cy="384048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377647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365D"/>
                </a:solidFill>
                <a:latin typeface="Aptos"/>
              </a:rPr>
              <a:t>6  assumption   Line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776472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365D"/>
                </a:solidFill>
              </a:rPr>
              <a:t>____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05072" y="3776472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5B7A5"/>
                </a:solidFill>
              </a:rPr>
              <a:t>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224528"/>
            <a:ext cx="4206240" cy="384048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425196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365D"/>
                </a:solidFill>
                <a:latin typeface="Aptos"/>
              </a:rPr>
              <a:t>7  disclosures   Line 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4251960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365D"/>
                </a:solidFill>
              </a:rPr>
              <a:t>____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05072" y="4251960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5B7A5"/>
                </a:solidFill>
              </a:rPr>
              <a:t>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700016"/>
            <a:ext cx="4206240" cy="384048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472744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365D"/>
                </a:solidFill>
                <a:latin typeface="Aptos"/>
              </a:rPr>
              <a:t>8  nocturnal   Line 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4727448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365D"/>
                </a:solidFill>
              </a:rPr>
              <a:t>____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05072" y="4727448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5B7A5"/>
                </a:solidFill>
              </a:rPr>
              <a:t>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175504"/>
            <a:ext cx="4206240" cy="384048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" y="5202936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365D"/>
                </a:solidFill>
                <a:latin typeface="Aptos"/>
              </a:rPr>
              <a:t>9  desperation   Line 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5202936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365D"/>
                </a:solidFill>
              </a:rPr>
              <a:t>____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05072" y="5202936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5B7A5"/>
                </a:solidFill>
              </a:rPr>
              <a:t>J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650992"/>
            <a:ext cx="4206240" cy="384048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5678424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7365D"/>
                </a:solidFill>
                <a:latin typeface="Aptos"/>
              </a:rPr>
              <a:t>10  counterproductively   Line 58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03320" y="5678424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365D"/>
                </a:solidFill>
              </a:rPr>
              <a:t>____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05072" y="5678424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5B7A5"/>
                </a:solidFill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1371600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7365D"/>
                </a:solidFill>
                <a:latin typeface="Aptos"/>
              </a:rPr>
              <a:t>A. in a way that has the opposite result to the one you intended.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1847088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7365D"/>
                </a:solidFill>
                <a:latin typeface="Aptos"/>
              </a:rPr>
              <a:t>B. by accident; without realising what you are doing.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2322576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7365D"/>
                </a:solidFill>
                <a:latin typeface="Aptos"/>
              </a:rPr>
              <a:t>C. active or happening at night.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0" y="2798064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7365D"/>
                </a:solidFill>
                <a:latin typeface="Aptos"/>
              </a:rPr>
              <a:t>D. the position in which you hold your body when sitting or standing.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0" y="3273552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7365D"/>
                </a:solidFill>
                <a:latin typeface="Aptos"/>
              </a:rPr>
              <a:t>E. a group of people admitted at one time (e.g. a new class of students).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40" y="3749039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7365D"/>
                </a:solidFill>
                <a:latin typeface="Aptos"/>
              </a:rPr>
              <a:t>F. personal information that you reveal/make known to others.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20640" y="4224528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7365D"/>
                </a:solidFill>
                <a:latin typeface="Aptos"/>
              </a:rPr>
              <a:t>G. to consist of; to be made up of.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0640" y="4700016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7365D"/>
                </a:solidFill>
                <a:latin typeface="Aptos"/>
              </a:rPr>
              <a:t>H. an idea that you accept as true without proof.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20640" y="5175504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7365D"/>
                </a:solidFill>
                <a:latin typeface="Aptos"/>
              </a:rPr>
              <a:t>I. money paid for lessons; (also) teaching itself.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0" y="5650992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7365D"/>
                </a:solidFill>
                <a:latin typeface="Aptos"/>
              </a:rPr>
              <a:t>J. a feeling of hopelessness / a strong need that makes you act without thinking.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7083"/>
                </a:solidFill>
                <a:latin typeface="Aptos"/>
              </a:rPr>
              <a:t>Match the 10 words to the definitions — write the letter in the blank.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angle BG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B7A5"/>
                </a:solidFill>
                <a:latin typeface="Aptos"/>
              </a:rPr>
              <a:t>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Comparison questions — “Why is X compared to Y?”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ips_band"/>
          <p:cNvSpPr/>
          <p:nvPr/>
        </p:nvSpPr>
        <p:spPr>
          <a:xfrm>
            <a:off x="502920" y="1207008"/>
            <a:ext cx="11155680" cy="457200"/>
          </a:xfrm>
          <a:prstGeom prst="roundRect">
            <a:avLst>
              <a:gd name="adj" fmla="val 6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ptos"/>
              </a:rPr>
              <a:t>The answer is the QUALITY the two things share — not the two things themselves.</a:t>
            </a:r>
          </a:p>
        </p:txBody>
      </p:sp>
      <p:sp>
        <p:nvSpPr>
          <p:cNvPr id="902" name="tips_cardsim"/>
          <p:cNvSpPr/>
          <p:nvPr/>
        </p:nvSpPr>
        <p:spPr>
          <a:xfrm>
            <a:off x="502920" y="1847088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ips_sim"/>
          <p:cNvSpPr txBox="1"/>
          <p:nvPr/>
        </p:nvSpPr>
        <p:spPr>
          <a:xfrm>
            <a:off x="777240" y="1975104"/>
            <a:ext cx="4983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800" b="1" dirty="0">
                <a:solidFill>
                  <a:srgbClr val="17365D"/>
                </a:solidFill>
                <a:latin typeface="Aptos"/>
              </a:rPr>
              <a:t>SIMILE — the signal is written openly</a:t>
            </a:r>
          </a:p>
          <a:p>
            <a:pPr algn="l">
              <a:spcBef>
                <a:spcPts val="600"/>
              </a:spcBef>
            </a:pPr>
            <a:r>
              <a:rPr lang="en-US" sz="1600" b="0" dirty="0">
                <a:solidFill>
                  <a:srgbClr val="17365D"/>
                </a:solidFill>
                <a:latin typeface="Aptos"/>
              </a:rPr>
              <a:t>•  like  ·  as … as  ·  compared to  ·  similar to</a:t>
            </a:r>
          </a:p>
          <a:p>
            <a:pPr algn="l">
              <a:spcBef>
                <a:spcPts val="600"/>
              </a:spcBef>
            </a:pPr>
            <a:r>
              <a:rPr lang="en-US" sz="1500" b="0" dirty="0">
                <a:solidFill>
                  <a:srgbClr val="17365D"/>
                </a:solidFill>
                <a:latin typeface="Aptos"/>
              </a:rPr>
              <a:t>e.g.  The pressure before the public exams weighed on her</a:t>
            </a:r>
          </a:p>
          <a:p>
            <a:pPr algn="l">
              <a:spcBef>
                <a:spcPts val="600"/>
              </a:spcBef>
            </a:pPr>
            <a:r>
              <a:rPr lang="en-US" sz="1500" b="0" dirty="0">
                <a:solidFill>
                  <a:srgbClr val="17365D"/>
                </a:solidFill>
                <a:latin typeface="Aptos"/>
              </a:rPr>
              <a:t>       shoulders like a mountain of lead.</a:t>
            </a:r>
          </a:p>
          <a:p>
            <a:pPr algn="l">
              <a:spcBef>
                <a:spcPts val="600"/>
              </a:spcBef>
            </a:pPr>
            <a:r>
              <a:rPr lang="en-US" sz="1500" b="0" dirty="0">
                <a:solidFill>
                  <a:srgbClr val="2F75B5"/>
                </a:solidFill>
                <a:latin typeface="Aptos"/>
              </a:rPr>
              <a:t>→  the shared quality sits right next to the signal:</a:t>
            </a:r>
          </a:p>
          <a:p>
            <a:pPr algn="l">
              <a:spcBef>
                <a:spcPts val="600"/>
              </a:spcBef>
            </a:pPr>
            <a:r>
              <a:rPr lang="en-US" sz="1500" b="1" dirty="0">
                <a:solidFill>
                  <a:srgbClr val="17365D"/>
                </a:solidFill>
                <a:latin typeface="Aptos"/>
              </a:rPr>
              <a:t>     heavy — copy the quality, not the object</a:t>
            </a:r>
          </a:p>
        </p:txBody>
      </p:sp>
      <p:sp>
        <p:nvSpPr>
          <p:cNvPr id="904" name="tips_cardmet"/>
          <p:cNvSpPr/>
          <p:nvPr/>
        </p:nvSpPr>
        <p:spPr>
          <a:xfrm>
            <a:off x="6217920" y="1847088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tips_met"/>
          <p:cNvSpPr txBox="1"/>
          <p:nvPr/>
        </p:nvSpPr>
        <p:spPr>
          <a:xfrm>
            <a:off x="6492240" y="1975104"/>
            <a:ext cx="4983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800" b="1" dirty="0">
                <a:solidFill>
                  <a:srgbClr val="17365D"/>
                </a:solidFill>
                <a:latin typeface="Aptos"/>
              </a:rPr>
              <a:t>METAPHOR — the signal is hidden</a:t>
            </a:r>
          </a:p>
          <a:p>
            <a:pPr algn="l">
              <a:spcBef>
                <a:spcPts val="600"/>
              </a:spcBef>
            </a:pPr>
            <a:r>
              <a:rPr lang="en-US" sz="1600" b="0" dirty="0">
                <a:solidFill>
                  <a:srgbClr val="17365D"/>
                </a:solidFill>
                <a:latin typeface="Aptos"/>
              </a:rPr>
              <a:t>•  X IS Y — no “like” or “as” in the sentence</a:t>
            </a:r>
          </a:p>
          <a:p>
            <a:pPr algn="l">
              <a:spcBef>
                <a:spcPts val="600"/>
              </a:spcBef>
            </a:pPr>
            <a:r>
              <a:rPr lang="en-US" sz="1500" b="0" dirty="0">
                <a:solidFill>
                  <a:srgbClr val="17365D"/>
                </a:solidFill>
                <a:latin typeface="Aptos"/>
              </a:rPr>
              <a:t>e.g.  Landfills are ticking bombs that future generations</a:t>
            </a:r>
          </a:p>
          <a:p>
            <a:pPr algn="l">
              <a:spcBef>
                <a:spcPts val="600"/>
              </a:spcBef>
            </a:pPr>
            <a:r>
              <a:rPr lang="en-US" sz="1500" b="0" dirty="0">
                <a:solidFill>
                  <a:srgbClr val="17365D"/>
                </a:solidFill>
                <a:latin typeface="Aptos"/>
              </a:rPr>
              <a:t>       have to deal with.</a:t>
            </a:r>
          </a:p>
          <a:p>
            <a:pPr algn="l">
              <a:spcBef>
                <a:spcPts val="600"/>
              </a:spcBef>
            </a:pPr>
            <a:r>
              <a:rPr lang="en-US" sz="1500" b="0" dirty="0">
                <a:solidFill>
                  <a:srgbClr val="2F75B5"/>
                </a:solidFill>
                <a:latin typeface="Aptos"/>
              </a:rPr>
              <a:t>→  what do the two things share?  Both are</a:t>
            </a:r>
          </a:p>
          <a:p>
            <a:pPr algn="l">
              <a:spcBef>
                <a:spcPts val="600"/>
              </a:spcBef>
            </a:pPr>
            <a:r>
              <a:rPr lang="en-US" sz="1500" b="1" dirty="0">
                <a:solidFill>
                  <a:srgbClr val="17365D"/>
                </a:solidFill>
                <a:latin typeface="Aptos"/>
              </a:rPr>
              <a:t>     dangerous and will cause harm later</a:t>
            </a:r>
          </a:p>
        </p:txBody>
      </p:sp>
      <p:sp>
        <p:nvSpPr>
          <p:cNvPr id="906" name="tips_cardrule"/>
          <p:cNvSpPr/>
          <p:nvPr/>
        </p:nvSpPr>
        <p:spPr>
          <a:xfrm>
            <a:off x="502920" y="4224528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ips_rule"/>
          <p:cNvSpPr txBox="1"/>
          <p:nvPr/>
        </p:nvSpPr>
        <p:spPr>
          <a:xfrm>
            <a:off x="777240" y="4352544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800" b="1" dirty="0">
                <a:solidFill>
                  <a:srgbClr val="17365D"/>
                </a:solidFill>
                <a:latin typeface="Aptos"/>
              </a:rPr>
              <a:t>How to answer:</a:t>
            </a:r>
          </a:p>
          <a:p>
            <a:pPr algn="l">
              <a:spcBef>
                <a:spcPts val="600"/>
              </a:spcBef>
            </a:pPr>
            <a:r>
              <a:rPr lang="en-US" sz="1600" b="0" dirty="0">
                <a:solidFill>
                  <a:srgbClr val="17365D"/>
                </a:solidFill>
                <a:latin typeface="Aptos"/>
              </a:rPr>
              <a:t>•  What do the two things SHARE?   They are both …</a:t>
            </a:r>
          </a:p>
          <a:p>
            <a:pPr algn="l">
              <a:spcBef>
                <a:spcPts val="600"/>
              </a:spcBef>
            </a:pPr>
            <a:r>
              <a:rPr lang="en-US" sz="1600" b="0" dirty="0">
                <a:solidFill>
                  <a:srgbClr val="17365D"/>
                </a:solidFill>
                <a:latin typeface="Aptos"/>
              </a:rPr>
              <a:t>•  Write the QUALITY (heavy · dangerous) — never just the object (a mountain · a bomb).</a:t>
            </a:r>
          </a:p>
          <a:p>
            <a:pPr algn="l">
              <a:spcBef>
                <a:spcPts val="600"/>
              </a:spcBef>
            </a:pPr>
            <a:r>
              <a:rPr lang="en-US" sz="1600" b="0" dirty="0">
                <a:solidFill>
                  <a:srgbClr val="17365D"/>
                </a:solidFill>
                <a:latin typeface="Aptos"/>
              </a:rPr>
              <a:t>•  Never write “because they are similar” — say HOW they are similar.</a:t>
            </a:r>
          </a:p>
        </p:txBody>
      </p:sp>
      <p:sp>
        <p:nvSpPr>
          <p:cNvPr id="908" name="tips_foot"/>
          <p:cNvSpPr txBox="1"/>
          <p:nvPr/>
        </p:nvSpPr>
        <p:spPr>
          <a:xfrm>
            <a:off x="502920" y="57607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600" b="1" dirty="0">
                <a:solidFill>
                  <a:srgbClr val="2F75B5"/>
                </a:solidFill>
                <a:latin typeface="Aptos"/>
              </a:rPr>
              <a:t>Let’s try two comparison questions — then the 12-mark exam questions.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3" grpId="0"/>
      <p:bldP spid="905" grpId="0"/>
      <p:bldP spid="907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0" name="Rectangle BG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1" name="Rectangle 70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TextBox 3"/>
          <p:cNvSpPr txBox="1"/>
          <p:nvPr/>
        </p:nvSpPr>
        <p:spPr>
          <a:xfrm>
            <a:off x="502920" y="2743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5B7A5"/>
                </a:solidFill>
                <a:latin typeface="Aptos"/>
              </a:rPr>
              <a:t>EXAM TIPS</a:t>
            </a:r>
          </a:p>
        </p:txBody>
      </p:sp>
      <p:sp>
        <p:nvSpPr>
          <p:cNvPr id="703" name="TextBox 4"/>
          <p:cNvSpPr txBox="1"/>
          <p:nvPr/>
        </p:nvSpPr>
        <p:spPr>
          <a:xfrm>
            <a:off x="502920" y="62179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Simile — demo 1 (easy)  ·  the signal is written openly</a:t>
            </a:r>
          </a:p>
        </p:txBody>
      </p:sp>
      <p:sp>
        <p:nvSpPr>
          <p:cNvPr id="704" name="Oval 5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6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"/>
          <p:cNvSpPr/>
          <p:nvPr/>
        </p:nvSpPr>
        <p:spPr>
          <a:xfrm>
            <a:off x="11311128" y="-36576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8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TextBox 9"/>
          <p:cNvSpPr txBox="1"/>
          <p:nvPr/>
        </p:nvSpPr>
        <p:spPr>
          <a:xfrm>
            <a:off x="502920" y="11887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7083"/>
                </a:solidFill>
                <a:latin typeface="Aptos"/>
              </a:rPr>
              <a:t>(demo — not from the examination paper)</a:t>
            </a:r>
          </a:p>
        </p:txBody>
      </p:sp>
      <p:sp>
        <p:nvSpPr>
          <p:cNvPr id="709" name="Rounded Rectangle 10"/>
          <p:cNvSpPr/>
          <p:nvPr/>
        </p:nvSpPr>
        <p:spPr>
          <a:xfrm>
            <a:off x="502920" y="1481328"/>
            <a:ext cx="112014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5B7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TextBox 11"/>
          <p:cNvSpPr txBox="1"/>
          <p:nvPr/>
        </p:nvSpPr>
        <p:spPr>
          <a:xfrm>
            <a:off x="822960" y="1645920"/>
            <a:ext cx="10561320" cy="297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>
                <a:solidFill>
                  <a:srgbClr val="17365D"/>
                </a:solidFill>
                <a:latin typeface="Aptos"/>
              </a:rPr>
              <a:t>The pressure before the public exams weighed on her shoulders like a mountain of lead.</a:t>
            </a:r>
          </a:p>
        </p:txBody>
      </p:sp>
      <p:sp>
        <p:nvSpPr>
          <p:cNvPr id="711" name="TextBox 12"/>
          <p:cNvSpPr txBox="1"/>
          <p:nvPr/>
        </p:nvSpPr>
        <p:spPr>
          <a:xfrm>
            <a:off x="502920" y="4956048"/>
            <a:ext cx="11201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65D"/>
                </a:solidFill>
                <a:latin typeface="Aptos"/>
              </a:rPr>
              <a:t>Question:   Why is the pressure compared to a mountain of lead?</a:t>
            </a:r>
          </a:p>
        </p:txBody>
      </p:sp>
      <p:sp>
        <p:nvSpPr>
          <p:cNvPr id="712" name="demo_ans"/>
          <p:cNvSpPr txBox="1"/>
          <p:nvPr/>
        </p:nvSpPr>
        <p:spPr>
          <a:xfrm>
            <a:off x="502920" y="5440680"/>
            <a:ext cx="11201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0B050"/>
                </a:solidFill>
                <a:latin typeface="Aptos"/>
              </a:rPr>
              <a:t>Model answer:  because the pressure felt very heavy / it weighed her down badly, like a mountain of lead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0" name="Rectangle BG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1" name="Rectangle 70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TextBox 3"/>
          <p:cNvSpPr txBox="1"/>
          <p:nvPr/>
        </p:nvSpPr>
        <p:spPr>
          <a:xfrm>
            <a:off x="502920" y="2743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5B7A5"/>
                </a:solidFill>
                <a:latin typeface="Aptos"/>
              </a:rPr>
              <a:t>EXAM TIPS</a:t>
            </a:r>
          </a:p>
        </p:txBody>
      </p:sp>
      <p:sp>
        <p:nvSpPr>
          <p:cNvPr id="703" name="TextBox 4"/>
          <p:cNvSpPr txBox="1"/>
          <p:nvPr/>
        </p:nvSpPr>
        <p:spPr>
          <a:xfrm>
            <a:off x="502920" y="62179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Metaphor — demo 2 (difficult)  ·  the signal is hidden</a:t>
            </a:r>
          </a:p>
        </p:txBody>
      </p:sp>
      <p:sp>
        <p:nvSpPr>
          <p:cNvPr id="704" name="Oval 5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6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"/>
          <p:cNvSpPr/>
          <p:nvPr/>
        </p:nvSpPr>
        <p:spPr>
          <a:xfrm>
            <a:off x="11311128" y="-36576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8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TextBox 9"/>
          <p:cNvSpPr txBox="1"/>
          <p:nvPr/>
        </p:nvSpPr>
        <p:spPr>
          <a:xfrm>
            <a:off x="502920" y="11887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7083"/>
                </a:solidFill>
                <a:latin typeface="Aptos"/>
              </a:rPr>
              <a:t>(demo — not from the examination paper)</a:t>
            </a:r>
          </a:p>
        </p:txBody>
      </p:sp>
      <p:sp>
        <p:nvSpPr>
          <p:cNvPr id="709" name="Rounded Rectangle 10"/>
          <p:cNvSpPr/>
          <p:nvPr/>
        </p:nvSpPr>
        <p:spPr>
          <a:xfrm>
            <a:off x="502920" y="1481328"/>
            <a:ext cx="11201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5B7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TextBox 11"/>
          <p:cNvSpPr txBox="1"/>
          <p:nvPr/>
        </p:nvSpPr>
        <p:spPr>
          <a:xfrm>
            <a:off x="822960" y="1572768"/>
            <a:ext cx="1056132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>
                <a:solidFill>
                  <a:srgbClr val="17365D"/>
                </a:solidFill>
                <a:latin typeface="Aptos"/>
              </a:rPr>
              <a:t>Landfills are ticking bombs that future generations have to deal with.</a:t>
            </a:r>
          </a:p>
        </p:txBody>
      </p:sp>
      <p:sp>
        <p:nvSpPr>
          <p:cNvPr id="711" name="TextBox 12"/>
          <p:cNvSpPr txBox="1"/>
          <p:nvPr/>
        </p:nvSpPr>
        <p:spPr>
          <a:xfrm>
            <a:off x="502920" y="3950208"/>
            <a:ext cx="11201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65D"/>
                </a:solidFill>
                <a:latin typeface="Aptos"/>
              </a:rPr>
              <a:t>Question:   Why are landfills compared to ticking bombs?</a:t>
            </a:r>
          </a:p>
        </p:txBody>
      </p:sp>
      <p:sp>
        <p:nvSpPr>
          <p:cNvPr id="712" name="demo_ans"/>
          <p:cNvSpPr txBox="1"/>
          <p:nvPr/>
        </p:nvSpPr>
        <p:spPr>
          <a:xfrm>
            <a:off x="502920" y="5440680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lang="en-US" sz="2000" b="0" dirty="0">
                <a:solidFill>
                  <a:srgbClr val="00B050"/>
                </a:solidFill>
                <a:latin typeface="Aptos"/>
              </a:rPr>
              <a:t>Model answer:  because both are dangerous — they will cause serious harm later / if nobody deals with them now</a:t>
            </a:r>
          </a:p>
        </p:txBody>
      </p:sp>
      <p:sp>
        <p:nvSpPr>
          <p:cNvPr id="713" name="demo2_card"/>
          <p:cNvSpPr/>
          <p:nvPr/>
        </p:nvSpPr>
        <p:spPr>
          <a:xfrm>
            <a:off x="502920" y="4526280"/>
            <a:ext cx="11201400" cy="82296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4" name="demo_clues"/>
          <p:cNvSpPr txBox="1"/>
          <p:nvPr/>
        </p:nvSpPr>
        <p:spPr>
          <a:xfrm>
            <a:off x="777240" y="4626864"/>
            <a:ext cx="10652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500" b="1" dirty="0">
                <a:solidFill>
                  <a:srgbClr val="2F75B5"/>
                </a:solidFill>
                <a:latin typeface="Aptos"/>
              </a:rPr>
              <a:t>How to find it:  </a:t>
            </a:r>
            <a:r>
              <a:rPr lang="en-US" sz="1500" b="0" dirty="0">
                <a:solidFill>
                  <a:srgbClr val="17365D"/>
                </a:solidFill>
                <a:latin typeface="Aptos"/>
              </a:rPr>
              <a:t>no “like” or “as” — a metaphor says landfills ARE ticking bombs.</a:t>
            </a:r>
          </a:p>
          <a:p>
            <a:pPr algn="l">
              <a:spcBef>
                <a:spcPts val="600"/>
              </a:spcBef>
            </a:pPr>
            <a:r>
              <a:rPr lang="en-US" sz="1500" b="0" dirty="0">
                <a:solidFill>
                  <a:srgbClr val="17365D"/>
                </a:solidFill>
                <a:latin typeface="Aptos"/>
              </a:rPr>
              <a:t>Ask what they share: both are dangerous and will cause serious harm later — the harm comes when we do nothing.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" grpId="0"/>
      <p:bldP spid="7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Rectangle BG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DFBF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7A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B7A5"/>
                </a:solidFill>
                <a:latin typeface="Aptos"/>
              </a:rPr>
              <a:t>QUESTION 1 OF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Read the paragraph — then write your answer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64040" y="256032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7083"/>
                </a:solidFill>
                <a:latin typeface="Aptos"/>
              </a:rPr>
              <a:t>(82%)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201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7365D"/>
                </a:solidFill>
                <a:latin typeface="Aptos"/>
              </a:rPr>
              <a:t>1.  When did the guzheng become popular?</a:t>
            </a:r>
          </a:p>
        </p:txBody>
      </p:sp>
      <p:pic>
        <p:nvPicPr>
          <p:cNvPr id="11" name="Picture 10" descr="t2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77640"/>
            <a:ext cx="6035040" cy="2334307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768337" y="4582179"/>
            <a:ext cx="920265" cy="288294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89649" y="5732252"/>
            <a:ext cx="1108149" cy="328148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q1_card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q1_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F75B5"/>
                </a:solidFill>
                <a:latin typeface="Aptos"/>
              </a:rPr>
              <a:t>Evidence &amp; explanation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Text 2, ¶1: “a popular Chinese instrument </a:t>
            </a:r>
            <a:r>
              <a:rPr sz="2000" b="0">
                <a:solidFill>
                  <a:srgbClr val="FF0000"/>
                </a:solidFill>
                <a:latin typeface="Aptos"/>
              </a:rPr>
              <a:t>since ancient times</a:t>
            </a:r>
            <a:r>
              <a:rPr sz="2000" b="0">
                <a:solidFill>
                  <a:srgbClr val="17365D"/>
                </a:solidFill>
                <a:latin typeface="Aptos"/>
              </a:rPr>
              <a:t>… first became popular during the Qin Dynasty.”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the answer is </a:t>
            </a:r>
            <a:r>
              <a:rPr sz="2000" b="0">
                <a:solidFill>
                  <a:srgbClr val="FF0000"/>
                </a:solidFill>
                <a:latin typeface="Aptos"/>
              </a:rPr>
              <a:t>the TIME phrase</a:t>
            </a:r>
            <a:r>
              <a:rPr sz="2000" b="0">
                <a:solidFill>
                  <a:srgbClr val="17365D"/>
                </a:solidFill>
                <a:latin typeface="Aptos"/>
              </a:rPr>
              <a:t> — either reading is accepted.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(1 mark · 82%)</a:t>
            </a:r>
          </a:p>
        </p:txBody>
      </p:sp>
      <p:sp>
        <p:nvSpPr>
          <p:cNvPr id="909" name="q1_ans1"/>
          <p:cNvSpPr txBox="1"/>
          <p:nvPr/>
        </p:nvSpPr>
        <p:spPr>
          <a:xfrm>
            <a:off x="502920" y="1783080"/>
            <a:ext cx="106527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0000"/>
                </a:solidFill>
                <a:latin typeface="Aptos"/>
              </a:rPr>
              <a:t>since ancient times  //  during the Qin Dynasty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"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" grpId="0"/>
      <p:bldP spid="90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Rectangle BG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DFBF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7A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B7A5"/>
                </a:solidFill>
                <a:latin typeface="Aptos"/>
              </a:rPr>
              <a:t>QUESTION 2 OF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Read the paragraph — then write your answer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64040" y="256032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7083"/>
                </a:solidFill>
                <a:latin typeface="Aptos"/>
              </a:rPr>
              <a:t>(43%)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201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7365D"/>
                </a:solidFill>
                <a:latin typeface="Aptos"/>
              </a:rPr>
              <a:t>2.  Find a word in paragraph 2 that means the same as “unstable”.</a:t>
            </a:r>
          </a:p>
        </p:txBody>
      </p:sp>
      <p:pic>
        <p:nvPicPr>
          <p:cNvPr id="11" name="Picture 10" descr="t2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82896"/>
            <a:ext cx="6035040" cy="142335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717096" y="5185683"/>
            <a:ext cx="1148003" cy="288294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q2_card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q2_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F75B5"/>
                </a:solidFill>
                <a:latin typeface="Aptos"/>
              </a:rPr>
              <a:t>Evidence &amp; explanation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Text 2, ¶2: “After surviving the </a:t>
            </a:r>
            <a:r>
              <a:rPr sz="2000" b="0">
                <a:solidFill>
                  <a:srgbClr val="FF0000"/>
                </a:solidFill>
                <a:latin typeface="Aptos"/>
              </a:rPr>
              <a:t>turbulent</a:t>
            </a:r>
            <a:r>
              <a:rPr sz="2000" b="0">
                <a:solidFill>
                  <a:srgbClr val="17365D"/>
                </a:solidFill>
                <a:latin typeface="Aptos"/>
              </a:rPr>
              <a:t> times of the Cultural Revolution…”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F0000"/>
                </a:solidFill>
                <a:latin typeface="Aptos"/>
              </a:rPr>
              <a:t>“turbulent times”</a:t>
            </a:r>
            <a:r>
              <a:rPr sz="2000" b="0">
                <a:solidFill>
                  <a:srgbClr val="17365D"/>
                </a:solidFill>
                <a:latin typeface="Aptos"/>
              </a:rPr>
              <a:t> = “unstable times” — check the spelling.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(1 mark · 43%)</a:t>
            </a:r>
          </a:p>
        </p:txBody>
      </p:sp>
      <p:sp>
        <p:nvSpPr>
          <p:cNvPr id="910" name="q2_ans1"/>
          <p:cNvSpPr txBox="1"/>
          <p:nvPr/>
        </p:nvSpPr>
        <p:spPr>
          <a:xfrm>
            <a:off x="502920" y="1783080"/>
            <a:ext cx="106527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0000"/>
                </a:solidFill>
                <a:latin typeface="Aptos"/>
              </a:rPr>
              <a:t>turbulent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"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9" grpId="0"/>
      <p:bldP spid="9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Rectangle BG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DFBF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7A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B7A5"/>
                </a:solidFill>
                <a:latin typeface="Aptos"/>
              </a:rPr>
              <a:t>QUESTION 3 OF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Read the paragraph — then write your answer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64040" y="256032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7083"/>
                </a:solidFill>
                <a:latin typeface="Aptos"/>
              </a:rPr>
              <a:t>(85%)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201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7365D"/>
                </a:solidFill>
                <a:latin typeface="Aptos"/>
              </a:rPr>
              <a:t>3.  According to Zou Lunlun, why do Chinese people want to learn the guzheng?</a:t>
            </a:r>
          </a:p>
        </p:txBody>
      </p:sp>
      <p:pic>
        <p:nvPicPr>
          <p:cNvPr id="11" name="Picture 10" descr="t2_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974336"/>
            <a:ext cx="6035040" cy="1337956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1340889" y="5334057"/>
            <a:ext cx="1022747" cy="356615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61913" y="5265736"/>
            <a:ext cx="1426981" cy="328148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" name="q3_card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q3_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F75B5"/>
                </a:solidFill>
                <a:latin typeface="Aptos"/>
              </a:rPr>
              <a:t>Evidence &amp; explanation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Text 2, ¶3: “Chinese people are attracted to learning the guzheng </a:t>
            </a:r>
            <a:r>
              <a:rPr sz="2000" b="0">
                <a:solidFill>
                  <a:srgbClr val="FF0000"/>
                </a:solidFill>
                <a:latin typeface="Aptos"/>
              </a:rPr>
              <a:t>because</a:t>
            </a:r>
            <a:r>
              <a:rPr sz="2000" b="0">
                <a:solidFill>
                  <a:srgbClr val="17365D"/>
                </a:solidFill>
                <a:latin typeface="Aptos"/>
              </a:rPr>
              <a:t> they have been exposed to its sound since childhood.”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“because” = reason signal — </a:t>
            </a:r>
            <a:r>
              <a:rPr sz="2000" b="0">
                <a:solidFill>
                  <a:srgbClr val="FF0000"/>
                </a:solidFill>
                <a:latin typeface="Aptos"/>
              </a:rPr>
              <a:t>copy the full clause.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(1 mark · 85%)</a:t>
            </a:r>
          </a:p>
        </p:txBody>
      </p:sp>
      <p:sp>
        <p:nvSpPr>
          <p:cNvPr id="911" name="q3_ans1"/>
          <p:cNvSpPr txBox="1"/>
          <p:nvPr/>
        </p:nvSpPr>
        <p:spPr>
          <a:xfrm>
            <a:off x="502920" y="1783080"/>
            <a:ext cx="106527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0000"/>
                </a:solidFill>
                <a:latin typeface="Aptos"/>
              </a:rPr>
              <a:t>they have been exposed to its sound since childhood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" dur="5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0" grpId="0"/>
      <p:bldP spid="9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Rectangle BG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DFBF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7A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B7A5"/>
                </a:solidFill>
                <a:latin typeface="Aptos"/>
              </a:rPr>
              <a:t>QUESTION 4 OF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Read the paragraph — then write your answer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64040" y="256032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7083"/>
                </a:solidFill>
                <a:latin typeface="Aptos"/>
              </a:rPr>
              <a:t>(59%)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20140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7365D"/>
                </a:solidFill>
                <a:latin typeface="Aptos"/>
              </a:rPr>
              <a:t>4.  Use ONE word to complete each blank.</a:t>
            </a:r>
          </a:p>
          <a:p>
            <a:pPr>
              <a:lnSpc>
                <a:spcPct val="110000"/>
              </a:lnSpc>
            </a:pPr>
            <a:r>
              <a:rPr sz="2000" b="1">
                <a:solidFill>
                  <a:srgbClr val="17365D"/>
                </a:solidFill>
                <a:latin typeface="Aptos"/>
              </a:rPr>
              <a:t>Zou believes Westerners like the guzheng because it sounds ______ and ______.</a:t>
            </a:r>
          </a:p>
        </p:txBody>
      </p:sp>
      <p:pic>
        <p:nvPicPr>
          <p:cNvPr id="11" name="Picture 10" descr="t2_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18304"/>
            <a:ext cx="6035040" cy="1594161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098116" y="5362697"/>
            <a:ext cx="777930" cy="288294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481621" y="5339923"/>
            <a:ext cx="1039828" cy="328148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0" name="q4_card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q4_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2F75B5"/>
                </a:solidFill>
                <a:latin typeface="Aptos"/>
              </a:rPr>
              <a:t>Evidence &amp; explanation</a:t>
            </a:r>
          </a:p>
          <a:p>
            <a:pPr algn="l">
              <a:spcBef>
                <a:spcPts val="600"/>
              </a:spcBef>
            </a:pPr>
            <a:r>
              <a:rPr lang="en-US" sz="2000" b="0" dirty="0">
                <a:solidFill>
                  <a:srgbClr val="17365D"/>
                </a:solidFill>
                <a:latin typeface="Aptos"/>
              </a:rPr>
              <a:t>Text 2, ¶4: “…because of its </a:t>
            </a:r>
            <a:r>
              <a:rPr lang="en-US" sz="2000" b="0" dirty="0">
                <a:solidFill>
                  <a:srgbClr val="FF0000"/>
                </a:solidFill>
                <a:latin typeface="Aptos"/>
              </a:rPr>
              <a:t>exotic and relaxing</a:t>
            </a:r>
            <a:r>
              <a:rPr lang="en-US" sz="2000" b="0" dirty="0">
                <a:solidFill>
                  <a:srgbClr val="17365D"/>
                </a:solidFill>
                <a:latin typeface="Aptos"/>
              </a:rPr>
              <a:t> sound.”</a:t>
            </a:r>
          </a:p>
          <a:p>
            <a:pPr algn="l">
              <a:spcBef>
                <a:spcPts val="600"/>
              </a:spcBef>
            </a:pPr>
            <a:r>
              <a:rPr lang="en-US" sz="2000" b="0" dirty="0">
                <a:solidFill>
                  <a:srgbClr val="17365D"/>
                </a:solidFill>
                <a:latin typeface="Aptos"/>
              </a:rPr>
              <a:t>two blanks, one mark — </a:t>
            </a:r>
            <a:r>
              <a:rPr lang="en-US" sz="2000" b="1" dirty="0">
                <a:solidFill>
                  <a:srgbClr val="FF0000"/>
                </a:solidFill>
                <a:latin typeface="Aptos"/>
              </a:rPr>
              <a:t>BOTH</a:t>
            </a:r>
            <a:r>
              <a:rPr lang="en-US" sz="2000" b="0" dirty="0">
                <a:solidFill>
                  <a:srgbClr val="17365D"/>
                </a:solidFill>
                <a:latin typeface="Aptos"/>
              </a:rPr>
              <a:t> words must be right.</a:t>
            </a:r>
          </a:p>
          <a:p>
            <a:pPr algn="l">
              <a:spcBef>
                <a:spcPts val="600"/>
              </a:spcBef>
            </a:pPr>
            <a:r>
              <a:rPr lang="en-US" sz="2000" b="0" dirty="0">
                <a:solidFill>
                  <a:srgbClr val="17365D"/>
                </a:solidFill>
                <a:latin typeface="Aptos"/>
              </a:rPr>
              <a:t>(1 mark · 59%)</a:t>
            </a:r>
          </a:p>
        </p:txBody>
      </p:sp>
      <p:sp>
        <p:nvSpPr>
          <p:cNvPr id="912" name="q4_ans1"/>
          <p:cNvSpPr txBox="1"/>
          <p:nvPr/>
        </p:nvSpPr>
        <p:spPr>
          <a:xfrm>
            <a:off x="502920" y="2103120"/>
            <a:ext cx="10652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lang="en-US" sz="2400" b="0" dirty="0">
                <a:solidFill>
                  <a:srgbClr val="FF0000"/>
                </a:solidFill>
                <a:latin typeface="Aptos"/>
              </a:rPr>
              <a:t>exotic   /   relaxing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" dur="5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" grpId="0"/>
      <p:bldP spid="9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Rectangle BG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DFBF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7A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B7A5"/>
                </a:solidFill>
                <a:latin typeface="Aptos"/>
              </a:rPr>
              <a:t>QUESTION 5 OF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Read the paragraph — then write your answer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64040" y="256032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7083"/>
                </a:solidFill>
                <a:latin typeface="Aptos"/>
              </a:rPr>
              <a:t>(34%)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201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7365D"/>
                </a:solidFill>
                <a:latin typeface="Aptos"/>
              </a:rPr>
              <a:t>5.  How does the Leisure and Cultural Services Department select students for their guzheng courses?</a:t>
            </a:r>
          </a:p>
        </p:txBody>
      </p:sp>
      <p:pic>
        <p:nvPicPr>
          <p:cNvPr id="11" name="Picture 10" descr="t2_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654296"/>
            <a:ext cx="6035040" cy="165684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311072" y="5045216"/>
            <a:ext cx="874999" cy="22469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173749" y="5335163"/>
            <a:ext cx="759021" cy="274395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1" name="q5_card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q5_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F75B5"/>
                </a:solidFill>
                <a:latin typeface="Aptos"/>
              </a:rPr>
              <a:t>Evidence &amp; explanation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Text 2, ¶10: “Acceptance is based on </a:t>
            </a:r>
            <a:r>
              <a:rPr sz="2000" b="0">
                <a:solidFill>
                  <a:srgbClr val="FF0000"/>
                </a:solidFill>
                <a:latin typeface="Aptos"/>
              </a:rPr>
              <a:t>an interview and a music aptitude test</a:t>
            </a:r>
            <a:r>
              <a:rPr sz="2000" b="0">
                <a:solidFill>
                  <a:srgbClr val="17365D"/>
                </a:solidFill>
                <a:latin typeface="Aptos"/>
              </a:rPr>
              <a:t> with the next intake in August.”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TWO points — </a:t>
            </a:r>
            <a:r>
              <a:rPr sz="2000" b="0">
                <a:solidFill>
                  <a:srgbClr val="FF0000"/>
                </a:solidFill>
                <a:latin typeface="Aptos"/>
              </a:rPr>
              <a:t>an interview AND a test</a:t>
            </a:r>
            <a:r>
              <a:rPr sz="2000" b="0">
                <a:solidFill>
                  <a:srgbClr val="17365D"/>
                </a:solidFill>
                <a:latin typeface="Aptos"/>
              </a:rPr>
              <a:t> — write both or lose the mark.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(1 mark · 34%)</a:t>
            </a:r>
          </a:p>
        </p:txBody>
      </p:sp>
      <p:sp>
        <p:nvSpPr>
          <p:cNvPr id="913" name="q5_ans1"/>
          <p:cNvSpPr txBox="1"/>
          <p:nvPr/>
        </p:nvSpPr>
        <p:spPr>
          <a:xfrm>
            <a:off x="502920" y="1783080"/>
            <a:ext cx="106527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0000"/>
                </a:solidFill>
                <a:latin typeface="Aptos"/>
              </a:rPr>
              <a:t>(passing an) interview and (taking a music aptitude) test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"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2" grpId="0"/>
      <p:bldP spid="9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Rectangle BG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DFBF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7A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B7A5"/>
                </a:solidFill>
                <a:latin typeface="Aptos"/>
              </a:rPr>
              <a:t>QUESTION 6 OF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Read the paragraph — then write your answer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64040" y="256032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7083"/>
                </a:solidFill>
                <a:latin typeface="Aptos"/>
              </a:rPr>
              <a:t>(3%)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201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7365D"/>
                </a:solidFill>
                <a:latin typeface="Aptos"/>
              </a:rPr>
              <a:t>6.  What does the first paragraph suggest about social media?</a:t>
            </a:r>
          </a:p>
        </p:txBody>
      </p:sp>
      <p:pic>
        <p:nvPicPr>
          <p:cNvPr id="11" name="Picture 10" descr="t3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28032"/>
            <a:ext cx="6035040" cy="1484026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572911" y="5691015"/>
            <a:ext cx="1044214" cy="252734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2" name="q6_card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q6_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F75B5"/>
                </a:solidFill>
                <a:latin typeface="Aptos"/>
              </a:rPr>
              <a:t>Evidence &amp; explanation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Text 3, ¶1: “Social media is great for deepening bonds… </a:t>
            </a:r>
            <a:r>
              <a:rPr sz="2000" b="0">
                <a:solidFill>
                  <a:srgbClr val="FF0000"/>
                </a:solidFill>
                <a:latin typeface="Aptos"/>
              </a:rPr>
              <a:t>Or is it?</a:t>
            </a:r>
            <a:r>
              <a:rPr sz="2000" b="0">
                <a:solidFill>
                  <a:srgbClr val="17365D"/>
                </a:solidFill>
                <a:latin typeface="Aptos"/>
              </a:rPr>
              <a:t>”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the rhetorical </a:t>
            </a:r>
            <a:r>
              <a:rPr sz="2000" b="0">
                <a:solidFill>
                  <a:srgbClr val="FF0000"/>
                </a:solidFill>
                <a:latin typeface="Aptos"/>
              </a:rPr>
              <a:t>“Or is it?”</a:t>
            </a:r>
            <a:r>
              <a:rPr sz="2000" b="0">
                <a:solidFill>
                  <a:srgbClr val="17365D"/>
                </a:solidFill>
                <a:latin typeface="Aptos"/>
              </a:rPr>
              <a:t> flips the positive claim — the doubt IS the answer.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(1 mark · 3%)</a:t>
            </a:r>
          </a:p>
        </p:txBody>
      </p:sp>
      <p:sp>
        <p:nvSpPr>
          <p:cNvPr id="914" name="q6_ans1"/>
          <p:cNvSpPr txBox="1"/>
          <p:nvPr/>
        </p:nvSpPr>
        <p:spPr>
          <a:xfrm>
            <a:off x="502920" y="1783080"/>
            <a:ext cx="106527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0000"/>
                </a:solidFill>
                <a:latin typeface="Aptos"/>
              </a:rPr>
              <a:t>it questions whether social media is good  //  it isn’t always as good as we think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"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3" grpId="0"/>
      <p:bldP spid="9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Rectangle BG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DFBF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7A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B7A5"/>
                </a:solidFill>
                <a:latin typeface="Aptos"/>
              </a:rPr>
              <a:t>QUESTION 7 OF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Read the paragraph — then write your answer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64040" y="256032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7083"/>
                </a:solidFill>
                <a:latin typeface="Aptos"/>
              </a:rPr>
              <a:t>(56%)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201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7365D"/>
                </a:solidFill>
                <a:latin typeface="Aptos"/>
              </a:rPr>
              <a:t>7.  According to paragraph 2, what are some users doing by accident?</a:t>
            </a:r>
          </a:p>
        </p:txBody>
      </p:sp>
      <p:pic>
        <p:nvPicPr>
          <p:cNvPr id="11" name="Picture 10" descr="t3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672584"/>
            <a:ext cx="6035040" cy="163242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5442029" y="5461366"/>
            <a:ext cx="1247031" cy="307148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90809" y="5773011"/>
            <a:ext cx="574273" cy="247787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3" name="q7_card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q7_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F75B5"/>
                </a:solidFill>
                <a:latin typeface="Aptos"/>
              </a:rPr>
              <a:t>Evidence &amp; explanation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Text 3, ¶2: “…power users… are </a:t>
            </a:r>
            <a:r>
              <a:rPr sz="2000" b="0">
                <a:solidFill>
                  <a:srgbClr val="FF0000"/>
                </a:solidFill>
                <a:latin typeface="Aptos"/>
              </a:rPr>
              <a:t>unwittingly revealing undesirable personal traits</a:t>
            </a:r>
            <a:r>
              <a:rPr sz="2000" b="0">
                <a:solidFill>
                  <a:srgbClr val="17365D"/>
                </a:solidFill>
                <a:latin typeface="Aptos"/>
              </a:rPr>
              <a:t> to their peers.”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“by accident” = </a:t>
            </a:r>
            <a:r>
              <a:rPr sz="2000" b="0">
                <a:solidFill>
                  <a:srgbClr val="FF0000"/>
                </a:solidFill>
                <a:latin typeface="Aptos"/>
              </a:rPr>
              <a:t>unwittingly</a:t>
            </a:r>
            <a:r>
              <a:rPr sz="2000" b="0">
                <a:solidFill>
                  <a:srgbClr val="17365D"/>
                </a:solidFill>
                <a:latin typeface="Aptos"/>
              </a:rPr>
              <a:t> — copy the phrase after it.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(1 mark · 56%)</a:t>
            </a:r>
          </a:p>
        </p:txBody>
      </p:sp>
      <p:sp>
        <p:nvSpPr>
          <p:cNvPr id="915" name="q7_ans1"/>
          <p:cNvSpPr txBox="1"/>
          <p:nvPr/>
        </p:nvSpPr>
        <p:spPr>
          <a:xfrm>
            <a:off x="502920" y="1783080"/>
            <a:ext cx="106527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0000"/>
                </a:solidFill>
                <a:latin typeface="Aptos"/>
              </a:rPr>
              <a:t>revealing undesirable personal traits (to their peers)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"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4" grpId="0"/>
      <p:bldP spid="9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Rectangle BG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DFBF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7A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B7A5"/>
                </a:solidFill>
                <a:latin typeface="Aptos"/>
              </a:rPr>
              <a:t>QUESTION 8 OF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Read the paragraph — then write your answer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64040" y="256032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7083"/>
                </a:solidFill>
                <a:latin typeface="Aptos"/>
              </a:rPr>
              <a:t>(33%)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201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7365D"/>
                </a:solidFill>
                <a:latin typeface="Aptos"/>
              </a:rPr>
              <a:t>8.  In line 15, “This assumption” refers to…</a:t>
            </a:r>
          </a:p>
        </p:txBody>
      </p:sp>
      <p:pic>
        <p:nvPicPr>
          <p:cNvPr id="11" name="Picture 10" descr="t3_p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0"/>
            <a:ext cx="6035040" cy="2473377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760888" y="5440530"/>
            <a:ext cx="1242084" cy="307148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127703" y="4184054"/>
            <a:ext cx="940332" cy="252734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4" name="q8_card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q8_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F75B5"/>
                </a:solidFill>
                <a:latin typeface="Aptos"/>
              </a:rPr>
              <a:t>Evidence &amp; explanation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“This assumption” points BACK to ¶3: “…</a:t>
            </a:r>
            <a:r>
              <a:rPr sz="2000" b="0">
                <a:solidFill>
                  <a:srgbClr val="FF0000"/>
                </a:solidFill>
                <a:latin typeface="Aptos"/>
              </a:rPr>
              <a:t>Facebook could be a fantastic place for people to strengthen their relationships</a:t>
            </a:r>
            <a:r>
              <a:rPr sz="2000" b="0">
                <a:solidFill>
                  <a:srgbClr val="17365D"/>
                </a:solidFill>
                <a:latin typeface="Aptos"/>
              </a:rPr>
              <a:t>.”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reference words </a:t>
            </a:r>
            <a:r>
              <a:rPr sz="2000" b="0">
                <a:solidFill>
                  <a:srgbClr val="FF0000"/>
                </a:solidFill>
                <a:latin typeface="Aptos"/>
              </a:rPr>
              <a:t>read backwards</a:t>
            </a:r>
            <a:r>
              <a:rPr sz="2000" b="0">
                <a:solidFill>
                  <a:srgbClr val="17365D"/>
                </a:solidFill>
                <a:latin typeface="Aptos"/>
              </a:rPr>
              <a:t> — copy the earlier idea.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(1 mark · 33%)</a:t>
            </a:r>
          </a:p>
        </p:txBody>
      </p:sp>
      <p:sp>
        <p:nvSpPr>
          <p:cNvPr id="916" name="q8_ans1"/>
          <p:cNvSpPr txBox="1"/>
          <p:nvPr/>
        </p:nvSpPr>
        <p:spPr>
          <a:xfrm>
            <a:off x="502920" y="1783080"/>
            <a:ext cx="106527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0000"/>
                </a:solidFill>
                <a:latin typeface="Aptos"/>
              </a:rPr>
              <a:t>(the idea) that Facebook could be a fantastic place for people to strengthen their relationships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5" grpId="0"/>
      <p:bldP spid="9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Rectangle BG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DFBF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7A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B7A5"/>
                </a:solidFill>
                <a:latin typeface="Aptos"/>
              </a:rPr>
              <a:t>QUESTION 9 OF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Read the paragraph — then write your answer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64040" y="256032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7083"/>
                </a:solidFill>
                <a:latin typeface="Aptos"/>
              </a:rPr>
              <a:t>(53%)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201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7365D"/>
                </a:solidFill>
                <a:latin typeface="Aptos"/>
              </a:rPr>
              <a:t>9.  What does “it” (line 41) refer to?</a:t>
            </a:r>
          </a:p>
        </p:txBody>
      </p:sp>
      <p:pic>
        <p:nvPicPr>
          <p:cNvPr id="11" name="Picture 10" descr="t3_p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992624"/>
            <a:ext cx="6035040" cy="1320165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3941864" y="5221681"/>
            <a:ext cx="680999" cy="209511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5" name="q9_card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q9_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F75B5"/>
                </a:solidFill>
                <a:latin typeface="Aptos"/>
              </a:rPr>
              <a:t>Evidence &amp; explanation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Text 3, ¶8: “…</a:t>
            </a:r>
            <a:r>
              <a:rPr sz="2000" b="0">
                <a:solidFill>
                  <a:srgbClr val="FF0000"/>
                </a:solidFill>
                <a:latin typeface="Aptos"/>
              </a:rPr>
              <a:t>a negative reaction</a:t>
            </a:r>
            <a:r>
              <a:rPr sz="2000" b="0">
                <a:solidFill>
                  <a:srgbClr val="17365D"/>
                </a:solidFill>
                <a:latin typeface="Aptos"/>
              </a:rPr>
              <a:t> to a post on Facebook, they seem to keep it to themselves.”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“it” points back to the noun before it: </a:t>
            </a:r>
            <a:r>
              <a:rPr sz="2000" b="0">
                <a:solidFill>
                  <a:srgbClr val="FF0000"/>
                </a:solidFill>
                <a:latin typeface="Aptos"/>
              </a:rPr>
              <a:t>a negative reaction.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(1 mark · 53%)</a:t>
            </a:r>
          </a:p>
        </p:txBody>
      </p:sp>
      <p:sp>
        <p:nvSpPr>
          <p:cNvPr id="917" name="q9_ans1"/>
          <p:cNvSpPr txBox="1"/>
          <p:nvPr/>
        </p:nvSpPr>
        <p:spPr>
          <a:xfrm>
            <a:off x="502920" y="1783080"/>
            <a:ext cx="106527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0000"/>
                </a:solidFill>
                <a:latin typeface="Aptos"/>
              </a:rPr>
              <a:t>a negative reaction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"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6" grpId="0"/>
      <p:bldP spid="9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Rectangle BG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DFBF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7A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B7A5"/>
                </a:solidFill>
                <a:latin typeface="Aptos"/>
              </a:rPr>
              <a:t>QUESTION 10 OF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Read the paragraph — then write your answer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64040" y="256032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7083"/>
                </a:solidFill>
                <a:latin typeface="Aptos"/>
              </a:rPr>
              <a:t>(28%)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201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7365D"/>
                </a:solidFill>
                <a:latin typeface="Aptos"/>
              </a:rPr>
              <a:t>10.  Why is Facebook compared to cigarettes and alcohol?</a:t>
            </a:r>
          </a:p>
        </p:txBody>
      </p:sp>
      <p:pic>
        <p:nvPicPr>
          <p:cNvPr id="11" name="Picture 10" descr="t3_p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138928"/>
            <a:ext cx="6035040" cy="1169289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1063904" y="5775350"/>
            <a:ext cx="782840" cy="213283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6" name="q10_card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q10_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2F75B5"/>
                </a:solidFill>
                <a:latin typeface="Aptos"/>
              </a:rPr>
              <a:t>Evidence &amp; explanation</a:t>
            </a:r>
          </a:p>
          <a:p>
            <a:pPr algn="l">
              <a:spcBef>
                <a:spcPts val="600"/>
              </a:spcBef>
            </a:pPr>
            <a:r>
              <a:rPr lang="en-US" sz="2000" b="0" dirty="0">
                <a:solidFill>
                  <a:srgbClr val="17365D"/>
                </a:solidFill>
                <a:latin typeface="Aptos"/>
              </a:rPr>
              <a:t>Text 3, ¶9: “…evidence that Facebook is </a:t>
            </a:r>
            <a:r>
              <a:rPr lang="en-US" sz="2000" b="0" dirty="0">
                <a:solidFill>
                  <a:srgbClr val="FF0000"/>
                </a:solidFill>
                <a:latin typeface="Aptos"/>
              </a:rPr>
              <a:t>as addictive as</a:t>
            </a:r>
            <a:r>
              <a:rPr lang="en-US" sz="2000" b="0" dirty="0">
                <a:solidFill>
                  <a:srgbClr val="17365D"/>
                </a:solidFill>
                <a:latin typeface="Aptos"/>
              </a:rPr>
              <a:t> cigarettes and alcohol.”</a:t>
            </a:r>
          </a:p>
          <a:p>
            <a:pPr algn="l">
              <a:spcBef>
                <a:spcPts val="600"/>
              </a:spcBef>
            </a:pPr>
            <a:r>
              <a:rPr lang="en-US" sz="2000" b="0" dirty="0">
                <a:solidFill>
                  <a:srgbClr val="17365D"/>
                </a:solidFill>
                <a:latin typeface="Aptos"/>
              </a:rPr>
              <a:t>comparison question (see demos 1–2): </a:t>
            </a:r>
            <a:r>
              <a:rPr lang="en-US" sz="2000" b="1" dirty="0">
                <a:solidFill>
                  <a:srgbClr val="FF0000"/>
                </a:solidFill>
                <a:latin typeface="Aptos"/>
              </a:rPr>
              <a:t>the shared quality is the answer — addictive.</a:t>
            </a:r>
          </a:p>
          <a:p>
            <a:pPr algn="l">
              <a:spcBef>
                <a:spcPts val="600"/>
              </a:spcBef>
            </a:pPr>
            <a:r>
              <a:rPr lang="en-US" sz="2000" b="0" dirty="0">
                <a:solidFill>
                  <a:srgbClr val="17365D"/>
                </a:solidFill>
                <a:latin typeface="Aptos"/>
              </a:rPr>
              <a:t>(1 mark · 28%)</a:t>
            </a:r>
          </a:p>
        </p:txBody>
      </p:sp>
      <p:sp>
        <p:nvSpPr>
          <p:cNvPr id="918" name="q10_ans1"/>
          <p:cNvSpPr txBox="1"/>
          <p:nvPr/>
        </p:nvSpPr>
        <p:spPr>
          <a:xfrm>
            <a:off x="502920" y="1783080"/>
            <a:ext cx="106527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0000"/>
                </a:solidFill>
                <a:latin typeface="Aptos"/>
              </a:rPr>
              <a:t>because it is (as) addictive as cigarettes and alcohol  //  it is an addiction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"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7" grpId="0"/>
      <p:bldP spid="9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Rectangle BG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DFBF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7A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B7A5"/>
                </a:solidFill>
                <a:latin typeface="Aptos"/>
              </a:rPr>
              <a:t>QUESTION 11 OF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Read the paragraph — then write your answer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64040" y="256032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7083"/>
                </a:solidFill>
                <a:latin typeface="Aptos"/>
              </a:rPr>
              <a:t>(48% / 46%)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20140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7365D"/>
                </a:solidFill>
                <a:latin typeface="Aptos"/>
              </a:rPr>
              <a:t>11.  i) In what way could social networking websites help people with low self-esteem?   ii) In what way can social networking websites be harmful to people with low self-esteem?</a:t>
            </a:r>
          </a:p>
        </p:txBody>
      </p:sp>
      <p:pic>
        <p:nvPicPr>
          <p:cNvPr id="11" name="Picture 10" descr="t3_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306824"/>
            <a:ext cx="6035040" cy="1999107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1052588" y="5539206"/>
            <a:ext cx="1722043" cy="24723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836697" y="5542978"/>
            <a:ext cx="1028014" cy="24723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387841" y="5773064"/>
            <a:ext cx="548982" cy="209511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7" name="q11_card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q11_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F75B5"/>
                </a:solidFill>
                <a:latin typeface="Aptos"/>
              </a:rPr>
              <a:t>Evidence &amp; explanation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Text 3, ¶10: “In theory… sharing… But in practice… </a:t>
            </a:r>
            <a:r>
              <a:rPr sz="2000" b="0">
                <a:solidFill>
                  <a:srgbClr val="FF0000"/>
                </a:solidFill>
                <a:latin typeface="Aptos"/>
              </a:rPr>
              <a:t>bombarding their friends with negative tidbits… becoming less likeable</a:t>
            </a:r>
            <a:r>
              <a:rPr sz="2000" b="0">
                <a:solidFill>
                  <a:srgbClr val="17365D"/>
                </a:solidFill>
                <a:latin typeface="Aptos"/>
              </a:rPr>
              <a:t>.”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two parts = two marks — give </a:t>
            </a:r>
            <a:r>
              <a:rPr sz="2000" b="0">
                <a:solidFill>
                  <a:srgbClr val="FF0000"/>
                </a:solidFill>
                <a:latin typeface="Aptos"/>
              </a:rPr>
              <a:t>the “In theory” idea AND the “But in practice” idea.</a:t>
            </a:r>
          </a:p>
          <a:p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7365D"/>
                </a:solidFill>
                <a:latin typeface="Aptos"/>
              </a:rPr>
              <a:t>(2 marks · 48% / 46%)</a:t>
            </a:r>
          </a:p>
        </p:txBody>
      </p:sp>
      <p:sp>
        <p:nvSpPr>
          <p:cNvPr id="919" name="q11_ans1"/>
          <p:cNvSpPr txBox="1"/>
          <p:nvPr/>
        </p:nvSpPr>
        <p:spPr>
          <a:xfrm>
            <a:off x="502920" y="2103120"/>
            <a:ext cx="106527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0000"/>
                </a:solidFill>
                <a:latin typeface="Aptos"/>
              </a:rPr>
              <a:t>i) share things on Facebook // improve their friendships // build self-esteem</a:t>
            </a:r>
          </a:p>
        </p:txBody>
      </p:sp>
      <p:sp>
        <p:nvSpPr>
          <p:cNvPr id="920" name="q11_ans2"/>
          <p:cNvSpPr txBox="1"/>
          <p:nvPr/>
        </p:nvSpPr>
        <p:spPr>
          <a:xfrm>
            <a:off x="502920" y="2971800"/>
            <a:ext cx="106527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0000"/>
                </a:solidFill>
                <a:latin typeface="Aptos"/>
              </a:rPr>
              <a:t>ii) bombard friends with negative tidbits // become less likeable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"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8" grpId="0"/>
      <p:bldP spid="919" grpId="0"/>
      <p:bldP spid="92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2332</Words>
  <Application>Microsoft Office PowerPoint</Application>
  <PresentationFormat>寬螢幕</PresentationFormat>
  <Paragraphs>197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Miu Sau Wai</dc:creator>
  <cp:keywords/>
  <dc:description>generated using python-pptx</dc:description>
  <cp:lastModifiedBy>Helen Miu</cp:lastModifiedBy>
  <cp:revision>2</cp:revision>
  <dcterms:created xsi:type="dcterms:W3CDTF">2013-01-27T09:14:16Z</dcterms:created>
  <dcterms:modified xsi:type="dcterms:W3CDTF">2026-09-22T09:47:30Z</dcterms:modified>
  <cp:category/>
</cp:coreProperties>
</file>